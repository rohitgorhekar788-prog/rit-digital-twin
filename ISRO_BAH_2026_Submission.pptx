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Google Sans Medium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A7"/>
    <a:srgbClr val="4A70FA"/>
    <a:srgbClr val="009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D06855-5F7C-47C5-8100-77F364B3F143}">
  <a:tblStyle styleId="{97D06855-5F7C-47C5-8100-77F364B3F14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>
        <p:guide orient="horz" pos="1620"/>
        <p:guide pos="288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A78B84-3D38-48FB-8487-CE5519D457EB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756A2428-D09B-43D1-A0B1-600FAB4965EA}">
      <dgm:prSet phldrT="[Text]" custT="1"/>
      <dgm:spPr/>
      <dgm:t>
        <a:bodyPr/>
        <a:lstStyle/>
        <a:p>
          <a:pPr>
            <a:buNone/>
          </a:pPr>
          <a:r>
            <a:rPr lang="en-IN" sz="1100" b="1" dirty="0"/>
            <a:t>IMD + INSAT (75 years)</a:t>
          </a:r>
        </a:p>
      </dgm:t>
    </dgm:pt>
    <dgm:pt modelId="{2A91F930-D466-4ED4-8F49-37F261552259}" type="parTrans" cxnId="{C0AD4D58-0D0A-4CAD-BCEE-065D7AB66F28}">
      <dgm:prSet/>
      <dgm:spPr/>
      <dgm:t>
        <a:bodyPr/>
        <a:lstStyle/>
        <a:p>
          <a:endParaRPr lang="en-IN"/>
        </a:p>
      </dgm:t>
    </dgm:pt>
    <dgm:pt modelId="{FD0F0FA4-B8A1-4095-B7C4-68F3507B6059}" type="sibTrans" cxnId="{C0AD4D58-0D0A-4CAD-BCEE-065D7AB66F28}">
      <dgm:prSet/>
      <dgm:spPr/>
      <dgm:t>
        <a:bodyPr/>
        <a:lstStyle/>
        <a:p>
          <a:endParaRPr lang="en-IN"/>
        </a:p>
      </dgm:t>
    </dgm:pt>
    <dgm:pt modelId="{019CC4E3-8BB2-4999-AC1A-0EDB43B487E0}">
      <dgm:prSet phldrT="[Text]" custT="1"/>
      <dgm:spPr/>
      <dgm:t>
        <a:bodyPr/>
        <a:lstStyle/>
        <a:p>
          <a:pPr>
            <a:buNone/>
          </a:pPr>
          <a:r>
            <a:rPr lang="en-IN" sz="1100" b="1" dirty="0"/>
            <a:t>AI Models</a:t>
          </a:r>
          <a:br>
            <a:rPr lang="en-IN" sz="1100" b="1" dirty="0"/>
          </a:br>
          <a:r>
            <a:rPr lang="en-IN" sz="1100" b="1" dirty="0"/>
            <a:t>(</a:t>
          </a:r>
          <a:r>
            <a:rPr lang="en-IN" sz="1100" b="1" dirty="0" err="1"/>
            <a:t>LightGBM</a:t>
          </a:r>
          <a:r>
            <a:rPr lang="en-IN" sz="1100" b="1" dirty="0"/>
            <a:t> + </a:t>
          </a:r>
          <a:r>
            <a:rPr lang="en-IN" sz="1100" b="1" dirty="0" err="1"/>
            <a:t>XGBoost</a:t>
          </a:r>
          <a:r>
            <a:rPr lang="en-IN" sz="1100" b="1" dirty="0"/>
            <a:t>)</a:t>
          </a:r>
        </a:p>
      </dgm:t>
    </dgm:pt>
    <dgm:pt modelId="{8C950F2C-005D-46C2-99CD-765ABEE6F97E}" type="parTrans" cxnId="{EFE22129-31C3-48B0-ADA7-4C2267EB5F4E}">
      <dgm:prSet/>
      <dgm:spPr/>
      <dgm:t>
        <a:bodyPr/>
        <a:lstStyle/>
        <a:p>
          <a:endParaRPr lang="en-IN"/>
        </a:p>
      </dgm:t>
    </dgm:pt>
    <dgm:pt modelId="{65873FCA-3660-4634-A3FA-54B04BA17B11}" type="sibTrans" cxnId="{EFE22129-31C3-48B0-ADA7-4C2267EB5F4E}">
      <dgm:prSet/>
      <dgm:spPr/>
      <dgm:t>
        <a:bodyPr/>
        <a:lstStyle/>
        <a:p>
          <a:endParaRPr lang="en-IN"/>
        </a:p>
      </dgm:t>
    </dgm:pt>
    <dgm:pt modelId="{6FA83AAE-26CC-4341-B344-E1056DDF7D23}">
      <dgm:prSet phldrT="[Text]" custT="1"/>
      <dgm:spPr/>
      <dgm:t>
        <a:bodyPr/>
        <a:lstStyle/>
        <a:p>
          <a:pPr>
            <a:buNone/>
          </a:pPr>
          <a:r>
            <a:rPr lang="en-IN" sz="1100" b="1" dirty="0"/>
            <a:t>Digital Twin</a:t>
          </a:r>
        </a:p>
      </dgm:t>
    </dgm:pt>
    <dgm:pt modelId="{76837C8D-D761-45BA-9FA8-3A4D5F4A74B1}" type="parTrans" cxnId="{E77E5CA3-0140-48E0-982E-4E7711480588}">
      <dgm:prSet/>
      <dgm:spPr/>
      <dgm:t>
        <a:bodyPr/>
        <a:lstStyle/>
        <a:p>
          <a:endParaRPr lang="en-IN"/>
        </a:p>
      </dgm:t>
    </dgm:pt>
    <dgm:pt modelId="{3DD932A0-AA12-4F1B-810C-CE9817EC8ABD}" type="sibTrans" cxnId="{E77E5CA3-0140-48E0-982E-4E7711480588}">
      <dgm:prSet/>
      <dgm:spPr/>
      <dgm:t>
        <a:bodyPr/>
        <a:lstStyle/>
        <a:p>
          <a:endParaRPr lang="en-IN"/>
        </a:p>
      </dgm:t>
    </dgm:pt>
    <dgm:pt modelId="{98380034-BEC2-4792-AA23-1B65AAD4DCC6}">
      <dgm:prSet phldrT="[Text]" custT="1"/>
      <dgm:spPr/>
      <dgm:t>
        <a:bodyPr/>
        <a:lstStyle/>
        <a:p>
          <a:pPr>
            <a:buNone/>
          </a:pPr>
          <a:r>
            <a:rPr lang="en-IN" sz="1100" b="1" dirty="0"/>
            <a:t>Temperature</a:t>
          </a:r>
          <a:br>
            <a:rPr lang="en-IN" sz="1100" b="1" dirty="0"/>
          </a:br>
          <a:r>
            <a:rPr lang="en-IN" sz="1100" b="1" dirty="0"/>
            <a:t>Rainfall</a:t>
          </a:r>
          <a:br>
            <a:rPr lang="en-IN" sz="1100" b="1" dirty="0"/>
          </a:br>
          <a:r>
            <a:rPr lang="en-IN" sz="1100" b="1" dirty="0"/>
            <a:t>Alerts</a:t>
          </a:r>
        </a:p>
      </dgm:t>
    </dgm:pt>
    <dgm:pt modelId="{7C555316-4157-4FFD-BAF5-D0F4E3181DA3}" type="parTrans" cxnId="{88FFA760-72D7-494E-8E04-7F2142B7CE60}">
      <dgm:prSet/>
      <dgm:spPr/>
      <dgm:t>
        <a:bodyPr/>
        <a:lstStyle/>
        <a:p>
          <a:endParaRPr lang="en-IN"/>
        </a:p>
      </dgm:t>
    </dgm:pt>
    <dgm:pt modelId="{E405E90A-0540-48BC-AF25-5A62FCD900D4}" type="sibTrans" cxnId="{88FFA760-72D7-494E-8E04-7F2142B7CE60}">
      <dgm:prSet/>
      <dgm:spPr/>
      <dgm:t>
        <a:bodyPr/>
        <a:lstStyle/>
        <a:p>
          <a:endParaRPr lang="en-IN"/>
        </a:p>
      </dgm:t>
    </dgm:pt>
    <dgm:pt modelId="{AA7FA65E-7B38-4ADE-B068-5F468D993944}" type="pres">
      <dgm:prSet presAssocID="{34A78B84-3D38-48FB-8487-CE5519D457EB}" presName="Name0" presStyleCnt="0">
        <dgm:presLayoutVars>
          <dgm:dir/>
          <dgm:resizeHandles val="exact"/>
        </dgm:presLayoutVars>
      </dgm:prSet>
      <dgm:spPr/>
    </dgm:pt>
    <dgm:pt modelId="{A753D510-E192-48BB-B2E3-B029014612D6}" type="pres">
      <dgm:prSet presAssocID="{756A2428-D09B-43D1-A0B1-600FAB4965EA}" presName="node" presStyleLbl="node1" presStyleIdx="0" presStyleCnt="4">
        <dgm:presLayoutVars>
          <dgm:bulletEnabled val="1"/>
        </dgm:presLayoutVars>
      </dgm:prSet>
      <dgm:spPr/>
    </dgm:pt>
    <dgm:pt modelId="{3CC8C13B-BB96-4C16-8531-89C405DFB4E4}" type="pres">
      <dgm:prSet presAssocID="{FD0F0FA4-B8A1-4095-B7C4-68F3507B6059}" presName="sibTrans" presStyleLbl="sibTrans2D1" presStyleIdx="0" presStyleCnt="3"/>
      <dgm:spPr/>
    </dgm:pt>
    <dgm:pt modelId="{802B3DC7-E3D8-497D-9349-DB10F2A0CFC3}" type="pres">
      <dgm:prSet presAssocID="{FD0F0FA4-B8A1-4095-B7C4-68F3507B6059}" presName="connectorText" presStyleLbl="sibTrans2D1" presStyleIdx="0" presStyleCnt="3"/>
      <dgm:spPr/>
    </dgm:pt>
    <dgm:pt modelId="{8F158776-01A4-4102-AC0F-3B27CB76A28F}" type="pres">
      <dgm:prSet presAssocID="{019CC4E3-8BB2-4999-AC1A-0EDB43B487E0}" presName="node" presStyleLbl="node1" presStyleIdx="1" presStyleCnt="4">
        <dgm:presLayoutVars>
          <dgm:bulletEnabled val="1"/>
        </dgm:presLayoutVars>
      </dgm:prSet>
      <dgm:spPr/>
    </dgm:pt>
    <dgm:pt modelId="{0FF90702-2CC0-4D12-8846-28A853FB4389}" type="pres">
      <dgm:prSet presAssocID="{65873FCA-3660-4634-A3FA-54B04BA17B11}" presName="sibTrans" presStyleLbl="sibTrans2D1" presStyleIdx="1" presStyleCnt="3"/>
      <dgm:spPr/>
    </dgm:pt>
    <dgm:pt modelId="{68DD2F8B-F07E-4B31-A7B6-B49EF390C7A2}" type="pres">
      <dgm:prSet presAssocID="{65873FCA-3660-4634-A3FA-54B04BA17B11}" presName="connectorText" presStyleLbl="sibTrans2D1" presStyleIdx="1" presStyleCnt="3"/>
      <dgm:spPr/>
    </dgm:pt>
    <dgm:pt modelId="{78A544A6-E9D4-48C3-8396-AEE235D27F42}" type="pres">
      <dgm:prSet presAssocID="{6FA83AAE-26CC-4341-B344-E1056DDF7D23}" presName="node" presStyleLbl="node1" presStyleIdx="2" presStyleCnt="4">
        <dgm:presLayoutVars>
          <dgm:bulletEnabled val="1"/>
        </dgm:presLayoutVars>
      </dgm:prSet>
      <dgm:spPr/>
    </dgm:pt>
    <dgm:pt modelId="{1271760D-423C-478C-8D2F-ABE6689B6688}" type="pres">
      <dgm:prSet presAssocID="{3DD932A0-AA12-4F1B-810C-CE9817EC8ABD}" presName="sibTrans" presStyleLbl="sibTrans2D1" presStyleIdx="2" presStyleCnt="3"/>
      <dgm:spPr/>
    </dgm:pt>
    <dgm:pt modelId="{63090F61-4789-4221-81F6-A533FD883C70}" type="pres">
      <dgm:prSet presAssocID="{3DD932A0-AA12-4F1B-810C-CE9817EC8ABD}" presName="connectorText" presStyleLbl="sibTrans2D1" presStyleIdx="2" presStyleCnt="3"/>
      <dgm:spPr/>
    </dgm:pt>
    <dgm:pt modelId="{8614366D-4EA8-443D-B28C-0CCEC1229027}" type="pres">
      <dgm:prSet presAssocID="{98380034-BEC2-4792-AA23-1B65AAD4DCC6}" presName="node" presStyleLbl="node1" presStyleIdx="3" presStyleCnt="4">
        <dgm:presLayoutVars>
          <dgm:bulletEnabled val="1"/>
        </dgm:presLayoutVars>
      </dgm:prSet>
      <dgm:spPr/>
    </dgm:pt>
  </dgm:ptLst>
  <dgm:cxnLst>
    <dgm:cxn modelId="{C215DA0D-B293-4F98-A992-BBEBD3AF943E}" type="presOf" srcId="{019CC4E3-8BB2-4999-AC1A-0EDB43B487E0}" destId="{8F158776-01A4-4102-AC0F-3B27CB76A28F}" srcOrd="0" destOrd="0" presId="urn:microsoft.com/office/officeart/2005/8/layout/process1"/>
    <dgm:cxn modelId="{EFE22129-31C3-48B0-ADA7-4C2267EB5F4E}" srcId="{34A78B84-3D38-48FB-8487-CE5519D457EB}" destId="{019CC4E3-8BB2-4999-AC1A-0EDB43B487E0}" srcOrd="1" destOrd="0" parTransId="{8C950F2C-005D-46C2-99CD-765ABEE6F97E}" sibTransId="{65873FCA-3660-4634-A3FA-54B04BA17B11}"/>
    <dgm:cxn modelId="{8C054735-4247-4918-9436-FE8068D54064}" type="presOf" srcId="{65873FCA-3660-4634-A3FA-54B04BA17B11}" destId="{0FF90702-2CC0-4D12-8846-28A853FB4389}" srcOrd="0" destOrd="0" presId="urn:microsoft.com/office/officeart/2005/8/layout/process1"/>
    <dgm:cxn modelId="{DA14C65D-7994-4302-A879-FD0D3BB3CED7}" type="presOf" srcId="{756A2428-D09B-43D1-A0B1-600FAB4965EA}" destId="{A753D510-E192-48BB-B2E3-B029014612D6}" srcOrd="0" destOrd="0" presId="urn:microsoft.com/office/officeart/2005/8/layout/process1"/>
    <dgm:cxn modelId="{88FFA760-72D7-494E-8E04-7F2142B7CE60}" srcId="{34A78B84-3D38-48FB-8487-CE5519D457EB}" destId="{98380034-BEC2-4792-AA23-1B65AAD4DCC6}" srcOrd="3" destOrd="0" parTransId="{7C555316-4157-4FFD-BAF5-D0F4E3181DA3}" sibTransId="{E405E90A-0540-48BC-AF25-5A62FCD900D4}"/>
    <dgm:cxn modelId="{C0AD4D58-0D0A-4CAD-BCEE-065D7AB66F28}" srcId="{34A78B84-3D38-48FB-8487-CE5519D457EB}" destId="{756A2428-D09B-43D1-A0B1-600FAB4965EA}" srcOrd="0" destOrd="0" parTransId="{2A91F930-D466-4ED4-8F49-37F261552259}" sibTransId="{FD0F0FA4-B8A1-4095-B7C4-68F3507B6059}"/>
    <dgm:cxn modelId="{19442D8F-3D80-441C-A2FF-2A6E4DB64ECB}" type="presOf" srcId="{FD0F0FA4-B8A1-4095-B7C4-68F3507B6059}" destId="{3CC8C13B-BB96-4C16-8531-89C405DFB4E4}" srcOrd="0" destOrd="0" presId="urn:microsoft.com/office/officeart/2005/8/layout/process1"/>
    <dgm:cxn modelId="{68033C9F-2E06-42CA-ADC8-389F343C5F1E}" type="presOf" srcId="{65873FCA-3660-4634-A3FA-54B04BA17B11}" destId="{68DD2F8B-F07E-4B31-A7B6-B49EF390C7A2}" srcOrd="1" destOrd="0" presId="urn:microsoft.com/office/officeart/2005/8/layout/process1"/>
    <dgm:cxn modelId="{E77E5CA3-0140-48E0-982E-4E7711480588}" srcId="{34A78B84-3D38-48FB-8487-CE5519D457EB}" destId="{6FA83AAE-26CC-4341-B344-E1056DDF7D23}" srcOrd="2" destOrd="0" parTransId="{76837C8D-D761-45BA-9FA8-3A4D5F4A74B1}" sibTransId="{3DD932A0-AA12-4F1B-810C-CE9817EC8ABD}"/>
    <dgm:cxn modelId="{CD1880A8-3F29-4767-978C-0AFD90FFC9EA}" type="presOf" srcId="{6FA83AAE-26CC-4341-B344-E1056DDF7D23}" destId="{78A544A6-E9D4-48C3-8396-AEE235D27F42}" srcOrd="0" destOrd="0" presId="urn:microsoft.com/office/officeart/2005/8/layout/process1"/>
    <dgm:cxn modelId="{597E63B5-6F12-448E-97F8-D4CF9F531E08}" type="presOf" srcId="{3DD932A0-AA12-4F1B-810C-CE9817EC8ABD}" destId="{1271760D-423C-478C-8D2F-ABE6689B6688}" srcOrd="0" destOrd="0" presId="urn:microsoft.com/office/officeart/2005/8/layout/process1"/>
    <dgm:cxn modelId="{70415DBE-B832-46A5-86C7-211142C802A6}" type="presOf" srcId="{FD0F0FA4-B8A1-4095-B7C4-68F3507B6059}" destId="{802B3DC7-E3D8-497D-9349-DB10F2A0CFC3}" srcOrd="1" destOrd="0" presId="urn:microsoft.com/office/officeart/2005/8/layout/process1"/>
    <dgm:cxn modelId="{B35A27D9-C33B-4CB8-A4D6-BC3712BA7E15}" type="presOf" srcId="{3DD932A0-AA12-4F1B-810C-CE9817EC8ABD}" destId="{63090F61-4789-4221-81F6-A533FD883C70}" srcOrd="1" destOrd="0" presId="urn:microsoft.com/office/officeart/2005/8/layout/process1"/>
    <dgm:cxn modelId="{224721E9-26FE-43F4-88BA-1DE3BF559A2C}" type="presOf" srcId="{34A78B84-3D38-48FB-8487-CE5519D457EB}" destId="{AA7FA65E-7B38-4ADE-B068-5F468D993944}" srcOrd="0" destOrd="0" presId="urn:microsoft.com/office/officeart/2005/8/layout/process1"/>
    <dgm:cxn modelId="{631923E9-9CE9-4E0C-9822-88D47E456A41}" type="presOf" srcId="{98380034-BEC2-4792-AA23-1B65AAD4DCC6}" destId="{8614366D-4EA8-443D-B28C-0CCEC1229027}" srcOrd="0" destOrd="0" presId="urn:microsoft.com/office/officeart/2005/8/layout/process1"/>
    <dgm:cxn modelId="{67FFF38A-7534-4559-8098-37C3C88E838C}" type="presParOf" srcId="{AA7FA65E-7B38-4ADE-B068-5F468D993944}" destId="{A753D510-E192-48BB-B2E3-B029014612D6}" srcOrd="0" destOrd="0" presId="urn:microsoft.com/office/officeart/2005/8/layout/process1"/>
    <dgm:cxn modelId="{025E3773-E2AD-4FD7-8199-0A3666FE7A18}" type="presParOf" srcId="{AA7FA65E-7B38-4ADE-B068-5F468D993944}" destId="{3CC8C13B-BB96-4C16-8531-89C405DFB4E4}" srcOrd="1" destOrd="0" presId="urn:microsoft.com/office/officeart/2005/8/layout/process1"/>
    <dgm:cxn modelId="{D883D352-4B00-4FD0-817B-214B7E15C5DD}" type="presParOf" srcId="{3CC8C13B-BB96-4C16-8531-89C405DFB4E4}" destId="{802B3DC7-E3D8-497D-9349-DB10F2A0CFC3}" srcOrd="0" destOrd="0" presId="urn:microsoft.com/office/officeart/2005/8/layout/process1"/>
    <dgm:cxn modelId="{E89FA64F-B30A-4EA3-8652-BED063159873}" type="presParOf" srcId="{AA7FA65E-7B38-4ADE-B068-5F468D993944}" destId="{8F158776-01A4-4102-AC0F-3B27CB76A28F}" srcOrd="2" destOrd="0" presId="urn:microsoft.com/office/officeart/2005/8/layout/process1"/>
    <dgm:cxn modelId="{22C41888-643E-47FB-B748-F40A9B64D476}" type="presParOf" srcId="{AA7FA65E-7B38-4ADE-B068-5F468D993944}" destId="{0FF90702-2CC0-4D12-8846-28A853FB4389}" srcOrd="3" destOrd="0" presId="urn:microsoft.com/office/officeart/2005/8/layout/process1"/>
    <dgm:cxn modelId="{44C1D0EC-0B1C-41A6-BEA0-C157B1D637EF}" type="presParOf" srcId="{0FF90702-2CC0-4D12-8846-28A853FB4389}" destId="{68DD2F8B-F07E-4B31-A7B6-B49EF390C7A2}" srcOrd="0" destOrd="0" presId="urn:microsoft.com/office/officeart/2005/8/layout/process1"/>
    <dgm:cxn modelId="{0AB6F15D-4385-4DEE-921A-EA7F91EE21E1}" type="presParOf" srcId="{AA7FA65E-7B38-4ADE-B068-5F468D993944}" destId="{78A544A6-E9D4-48C3-8396-AEE235D27F42}" srcOrd="4" destOrd="0" presId="urn:microsoft.com/office/officeart/2005/8/layout/process1"/>
    <dgm:cxn modelId="{9FA5EC28-2396-468B-B5A8-DC0AC91337D4}" type="presParOf" srcId="{AA7FA65E-7B38-4ADE-B068-5F468D993944}" destId="{1271760D-423C-478C-8D2F-ABE6689B6688}" srcOrd="5" destOrd="0" presId="urn:microsoft.com/office/officeart/2005/8/layout/process1"/>
    <dgm:cxn modelId="{9D6663E9-902C-4566-8390-4A95CC74C5B5}" type="presParOf" srcId="{1271760D-423C-478C-8D2F-ABE6689B6688}" destId="{63090F61-4789-4221-81F6-A533FD883C70}" srcOrd="0" destOrd="0" presId="urn:microsoft.com/office/officeart/2005/8/layout/process1"/>
    <dgm:cxn modelId="{32EAE44B-E6F4-4B3F-9B2B-A52458DC75E7}" type="presParOf" srcId="{AA7FA65E-7B38-4ADE-B068-5F468D993944}" destId="{8614366D-4EA8-443D-B28C-0CCEC122902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3D510-E192-48BB-B2E3-B029014612D6}">
      <dsp:nvSpPr>
        <dsp:cNvPr id="0" name=""/>
        <dsp:cNvSpPr/>
      </dsp:nvSpPr>
      <dsp:spPr>
        <a:xfrm>
          <a:off x="2253" y="47933"/>
          <a:ext cx="985337" cy="5912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IMD + INSAT (75 years)</a:t>
          </a:r>
        </a:p>
      </dsp:txBody>
      <dsp:txXfrm>
        <a:off x="19569" y="65249"/>
        <a:ext cx="950705" cy="556570"/>
      </dsp:txXfrm>
    </dsp:sp>
    <dsp:sp modelId="{3CC8C13B-BB96-4C16-8531-89C405DFB4E4}">
      <dsp:nvSpPr>
        <dsp:cNvPr id="0" name=""/>
        <dsp:cNvSpPr/>
      </dsp:nvSpPr>
      <dsp:spPr>
        <a:xfrm>
          <a:off x="1086124" y="221352"/>
          <a:ext cx="208891" cy="2443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1086124" y="270225"/>
        <a:ext cx="146224" cy="146617"/>
      </dsp:txXfrm>
    </dsp:sp>
    <dsp:sp modelId="{8F158776-01A4-4102-AC0F-3B27CB76A28F}">
      <dsp:nvSpPr>
        <dsp:cNvPr id="0" name=""/>
        <dsp:cNvSpPr/>
      </dsp:nvSpPr>
      <dsp:spPr>
        <a:xfrm>
          <a:off x="1381725" y="47933"/>
          <a:ext cx="985337" cy="5912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AI Models</a:t>
          </a:r>
          <a:br>
            <a:rPr lang="en-IN" sz="1100" b="1" kern="1200" dirty="0"/>
          </a:br>
          <a:r>
            <a:rPr lang="en-IN" sz="1100" b="1" kern="1200" dirty="0"/>
            <a:t>(</a:t>
          </a:r>
          <a:r>
            <a:rPr lang="en-IN" sz="1100" b="1" kern="1200" dirty="0" err="1"/>
            <a:t>LightGBM</a:t>
          </a:r>
          <a:r>
            <a:rPr lang="en-IN" sz="1100" b="1" kern="1200" dirty="0"/>
            <a:t> + </a:t>
          </a:r>
          <a:r>
            <a:rPr lang="en-IN" sz="1100" b="1" kern="1200" dirty="0" err="1"/>
            <a:t>XGBoost</a:t>
          </a:r>
          <a:r>
            <a:rPr lang="en-IN" sz="1100" b="1" kern="1200" dirty="0"/>
            <a:t>)</a:t>
          </a:r>
        </a:p>
      </dsp:txBody>
      <dsp:txXfrm>
        <a:off x="1399041" y="65249"/>
        <a:ext cx="950705" cy="556570"/>
      </dsp:txXfrm>
    </dsp:sp>
    <dsp:sp modelId="{0FF90702-2CC0-4D12-8846-28A853FB4389}">
      <dsp:nvSpPr>
        <dsp:cNvPr id="0" name=""/>
        <dsp:cNvSpPr/>
      </dsp:nvSpPr>
      <dsp:spPr>
        <a:xfrm>
          <a:off x="2465596" y="221352"/>
          <a:ext cx="208891" cy="2443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2465596" y="270225"/>
        <a:ext cx="146224" cy="146617"/>
      </dsp:txXfrm>
    </dsp:sp>
    <dsp:sp modelId="{78A544A6-E9D4-48C3-8396-AEE235D27F42}">
      <dsp:nvSpPr>
        <dsp:cNvPr id="0" name=""/>
        <dsp:cNvSpPr/>
      </dsp:nvSpPr>
      <dsp:spPr>
        <a:xfrm>
          <a:off x="2761197" y="47933"/>
          <a:ext cx="985337" cy="5912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Digital Twin</a:t>
          </a:r>
        </a:p>
      </dsp:txBody>
      <dsp:txXfrm>
        <a:off x="2778513" y="65249"/>
        <a:ext cx="950705" cy="556570"/>
      </dsp:txXfrm>
    </dsp:sp>
    <dsp:sp modelId="{1271760D-423C-478C-8D2F-ABE6689B6688}">
      <dsp:nvSpPr>
        <dsp:cNvPr id="0" name=""/>
        <dsp:cNvSpPr/>
      </dsp:nvSpPr>
      <dsp:spPr>
        <a:xfrm>
          <a:off x="3845068" y="221352"/>
          <a:ext cx="208891" cy="2443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3845068" y="270225"/>
        <a:ext cx="146224" cy="146617"/>
      </dsp:txXfrm>
    </dsp:sp>
    <dsp:sp modelId="{8614366D-4EA8-443D-B28C-0CCEC1229027}">
      <dsp:nvSpPr>
        <dsp:cNvPr id="0" name=""/>
        <dsp:cNvSpPr/>
      </dsp:nvSpPr>
      <dsp:spPr>
        <a:xfrm>
          <a:off x="4140669" y="47933"/>
          <a:ext cx="985337" cy="5912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Temperature</a:t>
          </a:r>
          <a:br>
            <a:rPr lang="en-IN" sz="1100" b="1" kern="1200" dirty="0"/>
          </a:br>
          <a:r>
            <a:rPr lang="en-IN" sz="1100" b="1" kern="1200" dirty="0"/>
            <a:t>Rainfall</a:t>
          </a:r>
          <a:br>
            <a:rPr lang="en-IN" sz="1100" b="1" kern="1200" dirty="0"/>
          </a:br>
          <a:r>
            <a:rPr lang="en-IN" sz="1100" b="1" kern="1200" dirty="0"/>
            <a:t>Alerts</a:t>
          </a:r>
        </a:p>
      </dsp:txBody>
      <dsp:txXfrm>
        <a:off x="4157985" y="65249"/>
        <a:ext cx="950705" cy="556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hyperlink" Target="https://www.mosdac.gov.i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mdpune.gov.in/cmpg/Griddata/Min_1_Bin.html" TargetMode="External"/><Relationship Id="rId5" Type="http://schemas.openxmlformats.org/officeDocument/2006/relationships/hyperlink" Target="https://imdpune.gov.in/cmpg/Griddata/Max_1_Bin.html" TargetMode="External"/><Relationship Id="rId4" Type="http://schemas.openxmlformats.org/officeDocument/2006/relationships/hyperlink" Target="https://www.imdpune.gov.in/cmpg/Griddata/Rainfall_25_Bin.html" TargetMode="Externa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240"/>
            <a:ext cx="9144018" cy="515874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/>
              <a:t>Team Name :</a:t>
            </a:r>
            <a:r>
              <a:rPr lang="en-IN" dirty="0"/>
              <a:t> </a:t>
            </a:r>
            <a:r>
              <a:rPr lang="en-IN" b="1" dirty="0"/>
              <a:t>The Spark</a:t>
            </a:r>
            <a:endParaRPr b="1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/>
              <a:t>Problem Statement : </a:t>
            </a:r>
            <a:r>
              <a:rPr b="1" dirty="0"/>
              <a:t>AI-Powered Digital Twin of India's Climate using India's National Data</a:t>
            </a:r>
            <a:r>
              <a:rPr lang="en-US" b="1" dirty="0"/>
              <a:t> (PS-05)</a:t>
            </a:r>
            <a:endParaRPr b="1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/>
              <a:t>Team Leader Name : </a:t>
            </a:r>
            <a:r>
              <a:rPr b="1" dirty="0"/>
              <a:t>Snehi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216870" y="702175"/>
            <a:ext cx="271026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600" b="1" dirty="0">
                <a:solidFill>
                  <a:srgbClr val="0093E6"/>
                </a:solidFill>
              </a:rPr>
              <a:t>Team Members &amp; Roles</a:t>
            </a:r>
          </a:p>
        </p:txBody>
      </p:sp>
      <p:graphicFrame>
        <p:nvGraphicFramePr>
          <p:cNvPr id="64" name="Google Shape;64;p14"/>
          <p:cNvGraphicFramePr/>
          <p:nvPr>
            <p:extLst>
              <p:ext uri="{D42A27DB-BD31-4B8C-83A1-F6EECF244321}">
                <p14:modId xmlns:p14="http://schemas.microsoft.com/office/powerpoint/2010/main" val="1936896510"/>
              </p:ext>
            </p:extLst>
          </p:nvPr>
        </p:nvGraphicFramePr>
        <p:xfrm>
          <a:off x="647700" y="1512330"/>
          <a:ext cx="7414260" cy="3152865"/>
        </p:xfrm>
        <a:graphic>
          <a:graphicData uri="http://schemas.openxmlformats.org/drawingml/2006/table">
            <a:tbl>
              <a:tblPr>
                <a:noFill/>
                <a:tableStyleId>{97D06855-5F7C-47C5-8100-77F364B3F143}</a:tableStyleId>
              </a:tblPr>
              <a:tblGrid>
                <a:gridCol w="7414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495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lang="en-IN" sz="1400" b="1" dirty="0">
                          <a:solidFill>
                            <a:srgbClr val="4A70FA"/>
                          </a:solidFill>
                        </a:rPr>
                        <a:t>Team Leader:</a:t>
                      </a:r>
                      <a:endParaRPr sz="1400" b="1" dirty="0">
                        <a:solidFill>
                          <a:srgbClr val="4A70FA"/>
                        </a:solidFill>
                      </a:endParaRPr>
                    </a:p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sz="1400" dirty="0"/>
                        <a:t>Name: </a:t>
                      </a:r>
                      <a:r>
                        <a:rPr sz="1400" b="1" dirty="0"/>
                        <a:t>Snehi Patel</a:t>
                      </a:r>
                    </a:p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sz="1400" dirty="0"/>
                        <a:t>Role: </a:t>
                      </a:r>
                      <a:r>
                        <a:rPr lang="en-IN" sz="1400" dirty="0"/>
                        <a:t>AI/ML Lead &amp; System Architect (Data Pipeline &amp; Temperature Models)</a:t>
                      </a:r>
                      <a:endParaRPr lang="en-US" sz="1400" dirty="0"/>
                    </a:p>
                    <a:p>
                      <a:pPr>
                        <a:defRPr sz="1100">
                          <a:latin typeface="Arial"/>
                        </a:defRPr>
                      </a:pPr>
                      <a:endParaRPr lang="en-IN" sz="1400" dirty="0"/>
                    </a:p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lang="en-IN" sz="1400" b="1" dirty="0">
                          <a:solidFill>
                            <a:srgbClr val="4A70FA"/>
                          </a:solidFill>
                        </a:rPr>
                        <a:t>Team Member-1:</a:t>
                      </a:r>
                    </a:p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lang="en-IN" sz="1400" dirty="0"/>
                        <a:t>Name: </a:t>
                      </a:r>
                      <a:r>
                        <a:rPr lang="en-IN" sz="1400" b="1" dirty="0"/>
                        <a:t>Juhi </a:t>
                      </a:r>
                      <a:r>
                        <a:rPr lang="en-IN" sz="1400" b="1" dirty="0" err="1"/>
                        <a:t>Vanjara</a:t>
                      </a:r>
                      <a:endParaRPr lang="en-IN" sz="1400" b="1" dirty="0"/>
                    </a:p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lang="en-IN" sz="1400" dirty="0"/>
                        <a:t>Role: Machine Learning Engineer (Climate Prediction &amp; Simulation)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6495">
                <a:tc>
                  <a:txBody>
                    <a:bodyPr/>
                    <a:lstStyle/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rPr sz="1400" b="1" dirty="0">
                          <a:solidFill>
                            <a:srgbClr val="4A70FA"/>
                          </a:solidFill>
                        </a:rPr>
                        <a:t>Team Member-2:</a:t>
                      </a:r>
                    </a:p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rPr sz="1400" dirty="0"/>
                        <a:t>Name: </a:t>
                      </a:r>
                      <a:r>
                        <a:rPr sz="1400" b="1" dirty="0"/>
                        <a:t>Yashvi</a:t>
                      </a:r>
                      <a:r>
                        <a:rPr lang="en-US" sz="1400" b="1" dirty="0"/>
                        <a:t> Sanghvi</a:t>
                      </a:r>
                      <a:endParaRPr sz="1400" b="1" dirty="0"/>
                    </a:p>
                    <a:p>
                      <a:pPr algn="l">
                        <a:defRPr sz="1100">
                          <a:latin typeface="Arial"/>
                        </a:defRPr>
                      </a:pPr>
                      <a:r>
                        <a:rPr lang="en-IN" sz="1400" dirty="0"/>
                        <a:t>R</a:t>
                      </a:r>
                      <a:r>
                        <a:rPr sz="1400" dirty="0"/>
                        <a:t>ole: </a:t>
                      </a:r>
                      <a:r>
                        <a:rPr lang="en-IN" sz="1400" dirty="0"/>
                        <a:t>Full-Stack Developer (Dashboard, UI/UX &amp; Model Deployment)</a:t>
                      </a:r>
                      <a:endParaRPr sz="1400" b="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252494" y="625657"/>
            <a:ext cx="8639012" cy="398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  <a:defRPr sz="1200">
                <a:latin typeface="Arial"/>
              </a:defRPr>
            </a:pPr>
            <a:r>
              <a:rPr sz="4800" b="1" dirty="0">
                <a:solidFill>
                  <a:srgbClr val="0093E6"/>
                </a:solidFill>
              </a:rPr>
              <a:t>Opportunity &amp; Key Differentiators:</a:t>
            </a:r>
            <a:endParaRPr lang="en-IN" sz="4800" b="1" dirty="0">
              <a:solidFill>
                <a:srgbClr val="0093E6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  <a:defRPr sz="1200">
                <a:latin typeface="Arial"/>
              </a:defRPr>
            </a:pPr>
            <a:endParaRPr sz="480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>
              <a:defRPr sz="1200">
                <a:latin typeface="Arial"/>
              </a:defRPr>
            </a:pPr>
            <a:r>
              <a:rPr sz="4800" dirty="0"/>
              <a:t>• How different is it from existing ideas?</a:t>
            </a:r>
            <a:endParaRPr lang="en-IN" sz="4800" dirty="0"/>
          </a:p>
          <a:p>
            <a:pPr>
              <a:defRPr sz="1200">
                <a:latin typeface="Arial"/>
              </a:defRPr>
            </a:pPr>
            <a:endParaRPr sz="4800" dirty="0"/>
          </a:p>
          <a:p>
            <a:pPr>
              <a:defRPr sz="1200">
                <a:latin typeface="Arial"/>
              </a:defRPr>
            </a:pPr>
            <a:r>
              <a:rPr sz="4800" dirty="0"/>
              <a:t>  </a:t>
            </a:r>
            <a:endParaRPr lang="en-US" sz="4800" dirty="0"/>
          </a:p>
          <a:p>
            <a:pPr>
              <a:defRPr sz="1200">
                <a:latin typeface="Arial"/>
              </a:defRPr>
            </a:pPr>
            <a:endParaRPr lang="en-US" sz="4800" dirty="0"/>
          </a:p>
          <a:p>
            <a:pPr>
              <a:defRPr sz="1200">
                <a:latin typeface="Arial"/>
              </a:defRPr>
            </a:pPr>
            <a:endParaRPr lang="en-IN" sz="4800" dirty="0"/>
          </a:p>
          <a:p>
            <a:pPr>
              <a:defRPr sz="1200">
                <a:latin typeface="Arial"/>
              </a:defRPr>
            </a:pPr>
            <a:endParaRPr lang="en-IN" sz="4800" dirty="0"/>
          </a:p>
          <a:p>
            <a:pPr>
              <a:defRPr sz="1200">
                <a:latin typeface="Arial"/>
              </a:defRPr>
            </a:pPr>
            <a:endParaRPr lang="en-IN" sz="4800" dirty="0"/>
          </a:p>
          <a:p>
            <a:pPr>
              <a:defRPr sz="1200">
                <a:latin typeface="Arial"/>
              </a:defRPr>
            </a:pPr>
            <a:endParaRPr lang="en-US" sz="4800" dirty="0"/>
          </a:p>
          <a:p>
            <a:pPr>
              <a:defRPr sz="1200">
                <a:latin typeface="Arial"/>
              </a:defRPr>
            </a:pPr>
            <a:endParaRPr sz="4800" dirty="0"/>
          </a:p>
          <a:p>
            <a:pPr>
              <a:defRPr sz="1200">
                <a:latin typeface="Arial"/>
              </a:defRPr>
            </a:pPr>
            <a:endParaRPr lang="en-US" sz="4800" dirty="0"/>
          </a:p>
          <a:p>
            <a:pPr>
              <a:defRPr sz="1200">
                <a:latin typeface="Arial"/>
              </a:defRPr>
            </a:pPr>
            <a:endParaRPr lang="en-US" sz="4800" dirty="0"/>
          </a:p>
          <a:p>
            <a:pPr>
              <a:defRPr sz="1200">
                <a:latin typeface="Arial"/>
              </a:defRPr>
            </a:pPr>
            <a:r>
              <a:rPr sz="4800" dirty="0"/>
              <a:t>• How will it solve the problem?</a:t>
            </a:r>
            <a:endParaRPr lang="en-US" sz="4800" dirty="0"/>
          </a:p>
          <a:p>
            <a:pPr>
              <a:defRPr sz="1200">
                <a:latin typeface="Arial"/>
              </a:defRPr>
            </a:pPr>
            <a:endParaRPr lang="en-IN" sz="4800" dirty="0"/>
          </a:p>
          <a:p>
            <a:pPr>
              <a:defRPr sz="1200">
                <a:latin typeface="Arial"/>
              </a:defRPr>
            </a:pPr>
            <a:endParaRPr sz="4800" dirty="0"/>
          </a:p>
          <a:p>
            <a:pPr>
              <a:defRPr sz="1200">
                <a:latin typeface="Arial"/>
              </a:defRPr>
            </a:pPr>
            <a:endParaRPr lang="en-US" sz="4800" dirty="0"/>
          </a:p>
          <a:p>
            <a:pPr>
              <a:defRPr sz="1200">
                <a:latin typeface="Arial"/>
              </a:defRPr>
            </a:pPr>
            <a:endParaRPr lang="en-IN" sz="4800" dirty="0"/>
          </a:p>
          <a:p>
            <a:pPr>
              <a:defRPr sz="1200">
                <a:latin typeface="Arial"/>
              </a:defRPr>
            </a:pPr>
            <a:endParaRPr lang="en-IN" sz="4800" dirty="0"/>
          </a:p>
          <a:p>
            <a:pPr>
              <a:defRPr sz="1200">
                <a:latin typeface="Arial"/>
              </a:defRPr>
            </a:pPr>
            <a:endParaRPr lang="en-IN" sz="4800" dirty="0"/>
          </a:p>
          <a:p>
            <a:pPr>
              <a:defRPr sz="1200">
                <a:latin typeface="Arial"/>
              </a:defRPr>
            </a:pPr>
            <a:endParaRPr lang="en-IN" sz="4800" dirty="0"/>
          </a:p>
          <a:p>
            <a:pPr>
              <a:defRPr sz="1200">
                <a:latin typeface="Arial"/>
              </a:defRPr>
            </a:pPr>
            <a:r>
              <a:rPr sz="4800" dirty="0"/>
              <a:t>• USP of the proposed solution:</a:t>
            </a:r>
            <a:endParaRPr lang="en-IN" sz="4800" dirty="0"/>
          </a:p>
          <a:p>
            <a:pPr>
              <a:defRPr sz="1200">
                <a:latin typeface="Arial"/>
              </a:defRPr>
            </a:pPr>
            <a:endParaRPr sz="4800" dirty="0"/>
          </a:p>
          <a:p>
            <a:pPr>
              <a:defRPr sz="1200">
                <a:latin typeface="Arial"/>
              </a:defRPr>
            </a:pPr>
            <a:r>
              <a:rPr sz="4800" dirty="0"/>
              <a:t>  </a:t>
            </a:r>
            <a:endParaRPr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22F867C-74EC-E2AB-6111-33B80D453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612376"/>
              </p:ext>
            </p:extLst>
          </p:nvPr>
        </p:nvGraphicFramePr>
        <p:xfrm>
          <a:off x="509506" y="1242876"/>
          <a:ext cx="5312174" cy="132887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656087">
                  <a:extLst>
                    <a:ext uri="{9D8B030D-6E8A-4147-A177-3AD203B41FA5}">
                      <a16:colId xmlns:a16="http://schemas.microsoft.com/office/drawing/2014/main" val="2006505485"/>
                    </a:ext>
                  </a:extLst>
                </a:gridCol>
                <a:gridCol w="2656087">
                  <a:extLst>
                    <a:ext uri="{9D8B030D-6E8A-4147-A177-3AD203B41FA5}">
                      <a16:colId xmlns:a16="http://schemas.microsoft.com/office/drawing/2014/main" val="1339822436"/>
                    </a:ext>
                  </a:extLst>
                </a:gridCol>
              </a:tblGrid>
              <a:tr h="332218">
                <a:tc>
                  <a:txBody>
                    <a:bodyPr/>
                    <a:lstStyle/>
                    <a:p>
                      <a:r>
                        <a:rPr lang="en-IN" sz="1100" dirty="0"/>
                        <a:t>Existing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Our Digital Twin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055956"/>
                  </a:ext>
                </a:extLst>
              </a:tr>
              <a:tr h="332218">
                <a:tc>
                  <a:txBody>
                    <a:bodyPr/>
                    <a:lstStyle/>
                    <a:p>
                      <a:r>
                        <a:rPr lang="en-IN" sz="1100" dirty="0"/>
                        <a:t>Slow NWP simulations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Instant AI 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180530"/>
                  </a:ext>
                </a:extLst>
              </a:tr>
              <a:tr h="332218">
                <a:tc>
                  <a:txBody>
                    <a:bodyPr/>
                    <a:lstStyle/>
                    <a:p>
                      <a:r>
                        <a:rPr lang="en-IN" sz="1100" dirty="0"/>
                        <a:t>Large regional forecasts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Grid-level forecasts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34800"/>
                  </a:ext>
                </a:extLst>
              </a:tr>
              <a:tr h="332218">
                <a:tc>
                  <a:txBody>
                    <a:bodyPr/>
                    <a:lstStyle/>
                    <a:p>
                      <a:r>
                        <a:rPr lang="en-IN" sz="1100" dirty="0"/>
                        <a:t>Modern data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Modern AI + </a:t>
                      </a:r>
                      <a:r>
                        <a:rPr lang="en-IN" sz="1100" dirty="0" err="1"/>
                        <a:t>Bhadali</a:t>
                      </a:r>
                      <a:r>
                        <a:rPr lang="en-IN" sz="1100" dirty="0"/>
                        <a:t>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869888"/>
                  </a:ext>
                </a:extLst>
              </a:tr>
            </a:tbl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A205338A-15FD-9C72-D2E6-E2F1384C7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3312747"/>
              </p:ext>
            </p:extLst>
          </p:nvPr>
        </p:nvGraphicFramePr>
        <p:xfrm>
          <a:off x="509506" y="2952910"/>
          <a:ext cx="5128260" cy="687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0FE4E2FB-2D55-76A4-7070-3CC5F68D6900}"/>
              </a:ext>
            </a:extLst>
          </p:cNvPr>
          <p:cNvGrpSpPr/>
          <p:nvPr/>
        </p:nvGrpSpPr>
        <p:grpSpPr>
          <a:xfrm>
            <a:off x="509506" y="4174309"/>
            <a:ext cx="6430763" cy="638630"/>
            <a:chOff x="509506" y="3535679"/>
            <a:chExt cx="6430763" cy="63863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9B9393-D4CD-D5D8-70AF-EFE3F7CF91CB}"/>
                </a:ext>
              </a:extLst>
            </p:cNvPr>
            <p:cNvSpPr/>
            <p:nvPr/>
          </p:nvSpPr>
          <p:spPr>
            <a:xfrm>
              <a:off x="509506" y="3535680"/>
              <a:ext cx="1448834" cy="638629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Ancient + AI </a:t>
              </a:r>
              <a:br>
                <a:rPr lang="en-IN" sz="1100" dirty="0"/>
              </a:br>
              <a:r>
                <a:rPr lang="en-IN" sz="1100" dirty="0" err="1"/>
                <a:t>Bhadali</a:t>
              </a:r>
              <a:r>
                <a:rPr lang="en-IN" sz="1100" dirty="0"/>
                <a:t> + ML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299D46-5D85-99C7-7195-8FA04A28250E}"/>
                </a:ext>
              </a:extLst>
            </p:cNvPr>
            <p:cNvSpPr/>
            <p:nvPr/>
          </p:nvSpPr>
          <p:spPr>
            <a:xfrm>
              <a:off x="2170149" y="3535680"/>
              <a:ext cx="1448834" cy="6386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ISRO Verified data </a:t>
              </a:r>
              <a:r>
                <a:rPr lang="en-IN" sz="1100" dirty="0"/>
                <a:t>INSAT + IMD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272B207-484B-2113-C36D-2F108272926B}"/>
                </a:ext>
              </a:extLst>
            </p:cNvPr>
            <p:cNvSpPr/>
            <p:nvPr/>
          </p:nvSpPr>
          <p:spPr>
            <a:xfrm>
              <a:off x="3830792" y="3535679"/>
              <a:ext cx="1448834" cy="638629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High Accuracy R² </a:t>
              </a:r>
              <a:r>
                <a:rPr lang="en-IN" sz="1100" dirty="0"/>
                <a:t>98%+ Temp 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DB8126-D41D-CDDC-0DD0-CCBE2885C65E}"/>
                </a:ext>
              </a:extLst>
            </p:cNvPr>
            <p:cNvSpPr/>
            <p:nvPr/>
          </p:nvSpPr>
          <p:spPr>
            <a:xfrm>
              <a:off x="5491435" y="3535679"/>
              <a:ext cx="1448834" cy="6386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AI Climate Advisor</a:t>
              </a:r>
              <a:br>
                <a:rPr lang="en-IN" sz="1100" dirty="0"/>
              </a:br>
              <a:r>
                <a:rPr lang="en-IN" sz="1100" dirty="0"/>
                <a:t>Reduce Future Climate Impact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137160" y="595920"/>
            <a:ext cx="5252596" cy="408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00">
                <a:latin typeface="Arial"/>
              </a:defRPr>
            </a:pPr>
            <a:r>
              <a:rPr sz="1200" b="1" dirty="0">
                <a:solidFill>
                  <a:srgbClr val="0093E6"/>
                </a:solidFill>
              </a:rPr>
              <a:t>List of Features Offered by the Digital Twin:</a:t>
            </a:r>
            <a:endParaRPr lang="en-US" sz="1200" b="1" dirty="0">
              <a:solidFill>
                <a:srgbClr val="0093E6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00">
                <a:latin typeface="Arial"/>
              </a:defRPr>
            </a:pPr>
            <a:endParaRPr sz="120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>
              <a:defRPr sz="1100">
                <a:latin typeface="Arial"/>
              </a:defRPr>
            </a:pPr>
            <a:r>
              <a:rPr sz="1200" dirty="0"/>
              <a:t>1. Daily Climate Forecasting</a:t>
            </a:r>
            <a:endParaRPr lang="en-IN" sz="1200" dirty="0"/>
          </a:p>
          <a:p>
            <a:pPr>
              <a:defRPr sz="1100">
                <a:latin typeface="Arial"/>
              </a:defRPr>
            </a:pPr>
            <a:r>
              <a:rPr sz="1200" dirty="0"/>
              <a:t>2. INSAT Satellite Overlay</a:t>
            </a:r>
            <a:endParaRPr lang="en-IN" sz="1200" dirty="0"/>
          </a:p>
          <a:p>
            <a:pPr>
              <a:defRPr sz="1100">
                <a:latin typeface="Arial"/>
              </a:defRPr>
            </a:pPr>
            <a:r>
              <a:rPr sz="1200" dirty="0"/>
              <a:t>3. </a:t>
            </a:r>
            <a:r>
              <a:rPr sz="1200" dirty="0" err="1"/>
              <a:t>Bhadali</a:t>
            </a:r>
            <a:r>
              <a:rPr sz="1200" dirty="0"/>
              <a:t> Moon Phase &amp; Nakshatra Predictor</a:t>
            </a:r>
            <a:endParaRPr lang="en-IN" sz="1200" dirty="0"/>
          </a:p>
          <a:p>
            <a:pPr>
              <a:defRPr sz="1100">
                <a:latin typeface="Arial"/>
              </a:defRPr>
            </a:pPr>
            <a:r>
              <a:rPr sz="1200" dirty="0"/>
              <a:t>4. What-If Scenario Stress Tester</a:t>
            </a:r>
            <a:endParaRPr lang="en-IN" sz="1200" dirty="0"/>
          </a:p>
          <a:p>
            <a:pPr>
              <a:defRPr sz="1100">
                <a:latin typeface="Arial"/>
              </a:defRPr>
            </a:pPr>
            <a:endParaRPr sz="1200" dirty="0"/>
          </a:p>
          <a:p>
            <a:pPr>
              <a:defRPr sz="1100">
                <a:latin typeface="Arial"/>
              </a:defRPr>
            </a:pPr>
            <a:r>
              <a:rPr sz="1200" dirty="0"/>
              <a:t>Datasets Ingested:</a:t>
            </a:r>
          </a:p>
          <a:p>
            <a:pPr>
              <a:defRPr sz="1100">
                <a:latin typeface="Arial"/>
              </a:defRPr>
            </a:pPr>
            <a:r>
              <a:rPr sz="1200" dirty="0"/>
              <a:t>• IMD Rainfall: </a:t>
            </a:r>
            <a:r>
              <a:rPr sz="1200" dirty="0">
                <a:hlinkClick r:id="rId4"/>
              </a:rPr>
              <a:t>https://www.imdpune.gov.in/cmpg/Griddata/Rainfall_25_Bin.html</a:t>
            </a:r>
            <a:endParaRPr lang="en-IN" sz="1200" dirty="0"/>
          </a:p>
          <a:p>
            <a:pPr>
              <a:defRPr sz="1100">
                <a:latin typeface="Arial"/>
              </a:defRPr>
            </a:pPr>
            <a:endParaRPr sz="1200" dirty="0"/>
          </a:p>
          <a:p>
            <a:pPr>
              <a:defRPr sz="1100">
                <a:latin typeface="Arial"/>
              </a:defRPr>
            </a:pPr>
            <a:r>
              <a:rPr sz="1200" dirty="0"/>
              <a:t>• IMD Max Temp: </a:t>
            </a:r>
            <a:r>
              <a:rPr sz="1200" dirty="0">
                <a:hlinkClick r:id="rId5"/>
              </a:rPr>
              <a:t>https://imdpune.gov.in/cmpg/Griddata/Max_1_Bin.html</a:t>
            </a:r>
            <a:endParaRPr lang="en-IN" sz="1200" dirty="0"/>
          </a:p>
          <a:p>
            <a:pPr>
              <a:defRPr sz="1100">
                <a:latin typeface="Arial"/>
              </a:defRPr>
            </a:pPr>
            <a:endParaRPr sz="1200" dirty="0"/>
          </a:p>
          <a:p>
            <a:pPr>
              <a:defRPr sz="1100">
                <a:latin typeface="Arial"/>
              </a:defRPr>
            </a:pPr>
            <a:r>
              <a:rPr sz="1200" dirty="0"/>
              <a:t>• IMD Min Temp:</a:t>
            </a:r>
            <a:r>
              <a:rPr lang="en-IN" sz="1200" dirty="0"/>
              <a:t> </a:t>
            </a:r>
            <a:r>
              <a:rPr sz="1200" dirty="0">
                <a:hlinkClick r:id="rId6"/>
              </a:rPr>
              <a:t>https://www.imdpune.gov.in/cmpg/Griddata/Min_1_Bin.html</a:t>
            </a:r>
            <a:endParaRPr lang="en-IN" sz="1200" dirty="0"/>
          </a:p>
          <a:p>
            <a:pPr>
              <a:defRPr sz="1100">
                <a:latin typeface="Arial"/>
              </a:defRPr>
            </a:pPr>
            <a:endParaRPr sz="1200" dirty="0"/>
          </a:p>
          <a:p>
            <a:pPr>
              <a:defRPr sz="1100">
                <a:latin typeface="Arial"/>
              </a:defRPr>
            </a:pPr>
            <a:r>
              <a:rPr sz="1200" dirty="0"/>
              <a:t>• INSAT LST (3RIMG_L2B_LST): </a:t>
            </a:r>
            <a:r>
              <a:rPr sz="1200" dirty="0">
                <a:hlinkClick r:id="rId7"/>
              </a:rPr>
              <a:t>https://www.mosdac.gov.in/</a:t>
            </a:r>
            <a:endParaRPr lang="en-IN" sz="1200" dirty="0"/>
          </a:p>
          <a:p>
            <a:pPr>
              <a:defRPr sz="1100">
                <a:latin typeface="Arial"/>
              </a:defRPr>
            </a:pPr>
            <a:endParaRPr sz="1200" dirty="0"/>
          </a:p>
          <a:p>
            <a:pPr>
              <a:defRPr sz="1100">
                <a:latin typeface="Arial"/>
              </a:defRPr>
            </a:pPr>
            <a:r>
              <a:rPr sz="1200" dirty="0"/>
              <a:t>• INSAT SST &amp; Rainfall (3RIMG_L2B_SST/IMC): </a:t>
            </a:r>
            <a:r>
              <a:rPr sz="1200" u="sng" dirty="0">
                <a:solidFill>
                  <a:srgbClr val="0097A7"/>
                </a:solidFill>
              </a:rPr>
              <a:t>https://www.mosdac.gov.in/</a:t>
            </a:r>
            <a:r>
              <a:rPr sz="1200" dirty="0"/>
              <a:t> (Will use)</a:t>
            </a:r>
            <a:endParaRPr lang="en-IN" sz="1200" dirty="0"/>
          </a:p>
          <a:p>
            <a:pPr>
              <a:defRPr sz="1100">
                <a:latin typeface="Arial"/>
              </a:defRPr>
            </a:pPr>
            <a:endParaRPr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F56DD2-4A69-20B4-7984-D405F43C18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1600" y="655605"/>
            <a:ext cx="4002400" cy="2278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039C0D-DC9E-CFF5-6CB5-353EEB5998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3639" y="2890954"/>
            <a:ext cx="3773201" cy="20188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7398CAE-9307-243E-64D5-F9AEAC4F097B}"/>
              </a:ext>
            </a:extLst>
          </p:cNvPr>
          <p:cNvSpPr txBox="1"/>
          <p:nvPr/>
        </p:nvSpPr>
        <p:spPr>
          <a:xfrm>
            <a:off x="1198314" y="686998"/>
            <a:ext cx="2047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93E6"/>
                </a:solidFill>
              </a:rPr>
              <a:t>System Flow Diagram</a:t>
            </a:r>
            <a:endParaRPr lang="en-IN" b="1" dirty="0">
              <a:solidFill>
                <a:srgbClr val="0093E6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BE8AD3-6E3F-1722-225F-2E4F49A25867}"/>
              </a:ext>
            </a:extLst>
          </p:cNvPr>
          <p:cNvSpPr txBox="1"/>
          <p:nvPr/>
        </p:nvSpPr>
        <p:spPr>
          <a:xfrm>
            <a:off x="5850005" y="686997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93E6"/>
                </a:solidFill>
              </a:rPr>
              <a:t>Use Case Diagram</a:t>
            </a:r>
            <a:endParaRPr lang="en-IN" b="1" dirty="0">
              <a:solidFill>
                <a:srgbClr val="0093E6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6B1318-B539-E13E-B2DF-FFBAD6FCB941}"/>
              </a:ext>
            </a:extLst>
          </p:cNvPr>
          <p:cNvCxnSpPr>
            <a:cxnSpLocks/>
          </p:cNvCxnSpPr>
          <p:nvPr/>
        </p:nvCxnSpPr>
        <p:spPr>
          <a:xfrm>
            <a:off x="4314825" y="569595"/>
            <a:ext cx="0" cy="4455795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70FCAD06-7FCB-EB30-9A24-AA2AF75E54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2" b="8741"/>
          <a:stretch>
            <a:fillRect/>
          </a:stretch>
        </p:blipFill>
        <p:spPr>
          <a:xfrm>
            <a:off x="171659" y="922020"/>
            <a:ext cx="4025692" cy="411505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88E81D0-ED8D-C3EE-1ED7-2CE11BAC3C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4" b="12148"/>
          <a:stretch>
            <a:fillRect/>
          </a:stretch>
        </p:blipFill>
        <p:spPr>
          <a:xfrm>
            <a:off x="4314825" y="1158241"/>
            <a:ext cx="4888648" cy="34156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110978" y="655394"/>
            <a:ext cx="45720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1600"/>
              <a:defRPr sz="1200">
                <a:latin typeface="Arial"/>
              </a:defRPr>
            </a:pPr>
            <a:r>
              <a:rPr lang="en-GB" sz="1200" b="1" dirty="0">
                <a:solidFill>
                  <a:srgbClr val="0093E6"/>
                </a:solidFill>
                <a:latin typeface="+mj-lt"/>
                <a:ea typeface="Google Sans Medium"/>
                <a:cs typeface="Google Sans Medium"/>
                <a:sym typeface="Google Sans Medium"/>
              </a:rPr>
              <a:t>Wireframes</a:t>
            </a:r>
            <a:r>
              <a:rPr lang="en-GB" sz="1200" b="1" dirty="0">
                <a:solidFill>
                  <a:srgbClr val="0093E6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/Mock diagrams of the proposed solution</a:t>
            </a:r>
            <a:endParaRPr b="1" dirty="0">
              <a:solidFill>
                <a:srgbClr val="0093E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378E4-3C3B-4E93-B594-016C4BD17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78" y="1259947"/>
            <a:ext cx="3256156" cy="1716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91D98E-A823-445B-9F66-DBA0CE7EC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78" y="3048000"/>
            <a:ext cx="3256156" cy="1716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E20340-6E4C-5CE1-9660-92F6C88C31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692"/>
          <a:stretch>
            <a:fillRect/>
          </a:stretch>
        </p:blipFill>
        <p:spPr>
          <a:xfrm>
            <a:off x="3512895" y="1109472"/>
            <a:ext cx="5520127" cy="17687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BFF94D-8F17-9D87-BDC0-4D7B44B5B01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1132" t="7416"/>
          <a:stretch>
            <a:fillRect/>
          </a:stretch>
        </p:blipFill>
        <p:spPr>
          <a:xfrm>
            <a:off x="3402577" y="2818072"/>
            <a:ext cx="1948234" cy="17163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1A66BF-58A8-C042-6D68-B26EF4120EF9}"/>
              </a:ext>
            </a:extLst>
          </p:cNvPr>
          <p:cNvSpPr txBox="1"/>
          <p:nvPr/>
        </p:nvSpPr>
        <p:spPr>
          <a:xfrm>
            <a:off x="3409562" y="4534384"/>
            <a:ext cx="19482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b="1" dirty="0"/>
              <a:t>Rainfall Model Validation</a:t>
            </a:r>
            <a:br>
              <a:rPr lang="en-IN" sz="1100" b="1" dirty="0"/>
            </a:br>
            <a:r>
              <a:rPr lang="en-IN" sz="1100" b="1" dirty="0"/>
              <a:t>with ~89.4% accuracy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888D87-7FA9-40E5-C19D-153E771C97FF}"/>
              </a:ext>
            </a:extLst>
          </p:cNvPr>
          <p:cNvSpPr txBox="1"/>
          <p:nvPr/>
        </p:nvSpPr>
        <p:spPr>
          <a:xfrm>
            <a:off x="452038" y="1028577"/>
            <a:ext cx="25740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Interactive Digital Twin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1A3E5-4FAB-0136-822E-0B27A539BE7E}"/>
              </a:ext>
            </a:extLst>
          </p:cNvPr>
          <p:cNvSpPr txBox="1"/>
          <p:nvPr/>
        </p:nvSpPr>
        <p:spPr>
          <a:xfrm>
            <a:off x="4682978" y="847862"/>
            <a:ext cx="3218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Satellite Validation (INSAT vs AI Prediction)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5EFF63-67F9-C879-FC6F-5C33FAF781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8903" y="2959072"/>
            <a:ext cx="3781145" cy="16028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ADEA95-4259-E12E-86A9-F1C9E4CCC37C}"/>
              </a:ext>
            </a:extLst>
          </p:cNvPr>
          <p:cNvSpPr txBox="1"/>
          <p:nvPr/>
        </p:nvSpPr>
        <p:spPr>
          <a:xfrm>
            <a:off x="5496150" y="3101422"/>
            <a:ext cx="9418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/>
              <a:t>Max Temp:</a:t>
            </a:r>
          </a:p>
          <a:p>
            <a:r>
              <a:rPr lang="pt-BR" sz="900" b="1" dirty="0"/>
              <a:t>R² = 0.995 </a:t>
            </a:r>
          </a:p>
          <a:p>
            <a:r>
              <a:rPr lang="pt-BR" sz="900" b="1" dirty="0"/>
              <a:t>MAE = 0.42°C</a:t>
            </a:r>
            <a:endParaRPr lang="en-IN" sz="9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BDB9B4-67B0-353B-CCE4-FEF7EB77D9A0}"/>
              </a:ext>
            </a:extLst>
          </p:cNvPr>
          <p:cNvSpPr txBox="1"/>
          <p:nvPr/>
        </p:nvSpPr>
        <p:spPr>
          <a:xfrm>
            <a:off x="7419278" y="3101422"/>
            <a:ext cx="9418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/>
              <a:t>Min Temp</a:t>
            </a:r>
          </a:p>
          <a:p>
            <a:r>
              <a:rPr lang="en-IN" sz="900" b="1" dirty="0"/>
              <a:t>R² = 0.994 </a:t>
            </a:r>
          </a:p>
          <a:p>
            <a:r>
              <a:rPr lang="en-IN" sz="900" b="1" dirty="0"/>
              <a:t>MAE = 0.39°C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177885" y="677696"/>
            <a:ext cx="7569300" cy="164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00">
                <a:latin typeface="Arial"/>
              </a:defRPr>
            </a:pPr>
            <a:r>
              <a:rPr sz="1200" b="1" dirty="0">
                <a:solidFill>
                  <a:srgbClr val="0093E6"/>
                </a:solidFill>
              </a:rPr>
              <a:t>AI Architecture &amp; Model Accuracies:</a:t>
            </a:r>
            <a:endParaRPr lang="en-US" sz="1200" b="1" dirty="0">
              <a:solidFill>
                <a:srgbClr val="0093E6"/>
              </a:solidFill>
            </a:endParaRPr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Max Temperature (</a:t>
            </a:r>
            <a:r>
              <a:rPr lang="en-IN" sz="1200" b="1" dirty="0" err="1"/>
              <a:t>LightGBM</a:t>
            </a:r>
            <a:r>
              <a:rPr lang="en-IN" sz="1200" b="1" dirty="0"/>
              <a:t>):</a:t>
            </a:r>
            <a:r>
              <a:rPr lang="en-IN" sz="1200" dirty="0"/>
              <a:t> </a:t>
            </a:r>
            <a:r>
              <a:rPr lang="en-IN" sz="1200" b="1" dirty="0"/>
              <a:t>R² 98.65%</a:t>
            </a:r>
            <a:r>
              <a:rPr lang="en-IN" sz="1200" dirty="0"/>
              <a:t> | </a:t>
            </a:r>
            <a:r>
              <a:rPr lang="en-IN" sz="1200" b="1" dirty="0"/>
              <a:t>MAE 0.49°C</a:t>
            </a:r>
            <a:r>
              <a:rPr lang="en-IN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Min Temperature (</a:t>
            </a:r>
            <a:r>
              <a:rPr lang="en-IN" sz="1200" b="1" dirty="0" err="1"/>
              <a:t>LightGBM</a:t>
            </a:r>
            <a:r>
              <a:rPr lang="en-IN" sz="1200" b="1" dirty="0"/>
              <a:t>):</a:t>
            </a:r>
            <a:r>
              <a:rPr lang="en-IN" sz="1200" dirty="0"/>
              <a:t> </a:t>
            </a:r>
            <a:r>
              <a:rPr lang="en-IN" sz="1200" b="1" dirty="0"/>
              <a:t>R² 98.92%</a:t>
            </a:r>
            <a:r>
              <a:rPr lang="en-IN" sz="1200" dirty="0"/>
              <a:t> | </a:t>
            </a:r>
            <a:r>
              <a:rPr lang="en-IN" sz="1200" b="1" dirty="0"/>
              <a:t>MAE 0.49°C</a:t>
            </a:r>
            <a:r>
              <a:rPr lang="en-IN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Rainfall Detection (</a:t>
            </a:r>
            <a:r>
              <a:rPr lang="en-IN" sz="1200" b="1" dirty="0" err="1"/>
              <a:t>XGBoost</a:t>
            </a:r>
            <a:r>
              <a:rPr lang="en-IN" sz="1200" b="1" dirty="0"/>
              <a:t>):</a:t>
            </a:r>
            <a:r>
              <a:rPr lang="en-IN" sz="1200" dirty="0"/>
              <a:t> </a:t>
            </a:r>
            <a:r>
              <a:rPr lang="en-IN" sz="1200" b="1" dirty="0"/>
              <a:t>89.4% Accuracy</a:t>
            </a:r>
            <a:r>
              <a:rPr lang="en-IN" sz="1200" dirty="0"/>
              <a:t> | </a:t>
            </a:r>
            <a:r>
              <a:rPr lang="en-IN" sz="1200" b="1" dirty="0"/>
              <a:t>F1 0.8765</a:t>
            </a:r>
            <a:r>
              <a:rPr lang="en-IN" sz="12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Includes </a:t>
            </a:r>
            <a:r>
              <a:rPr lang="en-IN" sz="1200" b="1" dirty="0"/>
              <a:t>Uncertainty Estimation </a:t>
            </a:r>
            <a:r>
              <a:rPr lang="en-IN" sz="1200" dirty="0"/>
              <a:t>(90% Prediction Intervals)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Validated Against:</a:t>
            </a:r>
            <a:r>
              <a:rPr lang="en-IN" sz="1200" dirty="0"/>
              <a:t> IMD Ground Stations + INSAT Satellite Observations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390FF-F95A-E4CC-E84F-902DCC702901}"/>
              </a:ext>
            </a:extLst>
          </p:cNvPr>
          <p:cNvSpPr txBox="1"/>
          <p:nvPr/>
        </p:nvSpPr>
        <p:spPr>
          <a:xfrm>
            <a:off x="3837664" y="4739306"/>
            <a:ext cx="1468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 Architecture</a:t>
            </a:r>
            <a:endParaRPr lang="en-IN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737215-69A2-77B2-CF05-CD10968796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503"/>
          <a:stretch>
            <a:fillRect/>
          </a:stretch>
        </p:blipFill>
        <p:spPr>
          <a:xfrm>
            <a:off x="177885" y="2137379"/>
            <a:ext cx="9321856" cy="2657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163017" y="707432"/>
            <a:ext cx="8638632" cy="368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300">
                <a:latin typeface="Arial"/>
              </a:defRPr>
            </a:pPr>
            <a:r>
              <a:rPr sz="1200" b="1" dirty="0">
                <a:solidFill>
                  <a:srgbClr val="0093E6"/>
                </a:solidFill>
              </a:rPr>
              <a:t>Technologies Used in the Proposed Solution:</a:t>
            </a:r>
            <a:endParaRPr lang="en-US" sz="800" b="1" dirty="0">
              <a:solidFill>
                <a:srgbClr val="0093E6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300">
                <a:latin typeface="Arial"/>
              </a:defRPr>
            </a:pPr>
            <a:endParaRPr sz="40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E7CD3-D171-E9ED-E79F-E40D3C9C40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580" b="2584"/>
          <a:stretch>
            <a:fillRect/>
          </a:stretch>
        </p:blipFill>
        <p:spPr>
          <a:xfrm>
            <a:off x="1563907" y="972947"/>
            <a:ext cx="5836851" cy="3970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200188" y="692564"/>
            <a:ext cx="8624144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300">
                <a:latin typeface="Arial"/>
              </a:defRPr>
            </a:pPr>
            <a:r>
              <a:rPr b="1" dirty="0">
                <a:solidFill>
                  <a:srgbClr val="0093E6"/>
                </a:solidFill>
              </a:rPr>
              <a:t>Estimated Implementation Cost:</a:t>
            </a:r>
            <a:endParaRPr lang="en-US" b="1" dirty="0">
              <a:solidFill>
                <a:srgbClr val="0093E6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300">
                <a:latin typeface="Arial"/>
              </a:defRPr>
            </a:pPr>
            <a:endParaRPr sz="160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B26976-72B3-E802-32B7-D3870A36D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358947"/>
              </p:ext>
            </p:extLst>
          </p:nvPr>
        </p:nvGraphicFramePr>
        <p:xfrm>
          <a:off x="319668" y="1149350"/>
          <a:ext cx="8430322" cy="221088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215161">
                  <a:extLst>
                    <a:ext uri="{9D8B030D-6E8A-4147-A177-3AD203B41FA5}">
                      <a16:colId xmlns:a16="http://schemas.microsoft.com/office/drawing/2014/main" val="95522871"/>
                    </a:ext>
                  </a:extLst>
                </a:gridCol>
                <a:gridCol w="4215161">
                  <a:extLst>
                    <a:ext uri="{9D8B030D-6E8A-4147-A177-3AD203B41FA5}">
                      <a16:colId xmlns:a16="http://schemas.microsoft.com/office/drawing/2014/main" val="3379302735"/>
                    </a:ext>
                  </a:extLst>
                </a:gridCol>
              </a:tblGrid>
              <a:tr h="368481">
                <a:tc>
                  <a:txBody>
                    <a:bodyPr/>
                    <a:lstStyle/>
                    <a:p>
                      <a:r>
                        <a:rPr lang="en-IN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Estimated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47401"/>
                  </a:ext>
                </a:extLst>
              </a:tr>
              <a:tr h="368481">
                <a:tc>
                  <a:txBody>
                    <a:bodyPr/>
                    <a:lstStyle/>
                    <a:p>
                      <a:r>
                        <a:rPr lang="en-IN" dirty="0"/>
                        <a:t>Software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₹0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870100"/>
                  </a:ext>
                </a:extLst>
              </a:tr>
              <a:tr h="368481">
                <a:tc>
                  <a:txBody>
                    <a:bodyPr/>
                    <a:lstStyle/>
                    <a:p>
                      <a:r>
                        <a:rPr lang="en-IN" dirty="0"/>
                        <a:t>IMD &amp; MOSDAC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₹0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199998"/>
                  </a:ext>
                </a:extLst>
              </a:tr>
              <a:tr h="368481">
                <a:tc>
                  <a:txBody>
                    <a:bodyPr/>
                    <a:lstStyle/>
                    <a:p>
                      <a:r>
                        <a:rPr lang="en-IN" dirty="0"/>
                        <a:t>Cloud 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₹3,300–₹4,700/month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938150"/>
                  </a:ext>
                </a:extLst>
              </a:tr>
              <a:tr h="368481">
                <a:tc>
                  <a:txBody>
                    <a:bodyPr/>
                    <a:lstStyle/>
                    <a:p>
                      <a:r>
                        <a:rPr lang="en-IN" dirty="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₹400–₹500/month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643071"/>
                  </a:ext>
                </a:extLst>
              </a:tr>
              <a:tr h="368481">
                <a:tc>
                  <a:txBody>
                    <a:bodyPr/>
                    <a:lstStyle/>
                    <a:p>
                      <a:r>
                        <a:rPr lang="en-IN" b="1" dirty="0"/>
                        <a:t>Total Operational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b="1" dirty="0"/>
                        <a:t>₹3,700–₹5,200/month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2374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73E65F-63AB-3B39-0E6C-ACA4F842B4C6}"/>
              </a:ext>
            </a:extLst>
          </p:cNvPr>
          <p:cNvSpPr txBox="1"/>
          <p:nvPr/>
        </p:nvSpPr>
        <p:spPr>
          <a:xfrm>
            <a:off x="252760" y="3411673"/>
            <a:ext cx="6579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Deployment Ready:</a:t>
            </a:r>
            <a:r>
              <a:rPr lang="en-IN" dirty="0"/>
              <a:t> Docker • AWS • Azure • Google Cloud • On-Premise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3906</TotalTime>
  <Words>540</Words>
  <Application>Microsoft Office PowerPoint</Application>
  <PresentationFormat>On-screen Show (16:9)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Google Sans Medium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juhi</dc:creator>
  <cp:lastModifiedBy>snehi2006@outlook.com</cp:lastModifiedBy>
  <cp:revision>14</cp:revision>
  <dcterms:modified xsi:type="dcterms:W3CDTF">2026-07-01T15:42:26Z</dcterms:modified>
</cp:coreProperties>
</file>